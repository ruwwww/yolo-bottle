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4114800" cy="411480"/>
          </a:xfrm>
          <a:prstGeom prst="roundRect">
            <a:avLst/>
          </a:prstGeom>
          <a:solidFill>
            <a:srgbClr val="182646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SISTEM EMBEDDED &amp;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Kasir Kulkas Kejujuran Berbasis AI</a:t>
            </a:r>
          </a:p>
          <a:p>
            <a:pPr>
              <a:defRPr sz="1800">
                <a:solidFill>
                  <a:srgbClr val="38BDF8"/>
                </a:solidFill>
              </a:defRPr>
            </a:pPr>
            <a:r>
              <a:t>Deteksi YOLOv11, OCR Struk Transfer, Integrasi QRIS Midtrans, &amp; Rekonsiliasi Mutasi Anti-Kecurangan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1069848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Deskripsi &amp; Keunggulan Utama Proyek: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Otomasi Kasir Mandiri: Menghitung total belanja botol minuman secara instan &amp; akurat tanpa barcode scanner manual.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Triangulasi 3 Titik Waktu: Mengeliminasi 99% celah kecurangan transfer statis (Replay Attack, Fake Screenshot, &amp; Double Spending).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Dual &amp; Triple Capture Forensik: Menyimpan foto minuman, scan struk, dan foto wajah pelanggar saat terjadi kecurangan.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Admin Monitoring Real-Time: Webapp Dashboard live sync + Cloudflare Tunnel + notifikasi alert Telegram Bot instan.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LATAR BELAKANG &amp;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Tantangan Kulkas Kejujuran &amp; 4 Celah Kecurangan Pembeli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1. Replay Attack (Screenshot Lama)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Pembeli menunjukkan screenshot struk transfer kemarin atau tadi pagi yang sudah kadaluarsa ke kamera kasir.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2. Fake Screenshot (Struk Editan)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Pembeli mengedit nominal, status, dan jam pada template struk aplikasi transfer tanpa ada uang yang benar-benar masuk rekening.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3. Double Spending (1 Struk 2 Botol)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Dua orang pembeli bergantian menggunakan satu bukti transfer yang sama untuk mengambil dua botol minuman berbeda.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4. Underpayment (Kurang Bayar)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Total tagihan minuman Rp 15.000, tetapi pembeli hanya mentransfer Rp 3.000 dan langsung mengambil barang.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ARSITEKTUR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Integrasi Hardware, Edge Computer Vision, &amp; Cloud Gateway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1. INPUT &amp; SENSOR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Webcam Standar 1080p/720p</a:t>
            </a:r>
            <a:br/>
            <a:r>
              <a:t>• Mendeteksi botol di panggung kasir</a:t>
            </a:r>
            <a:br/>
            <a:r>
              <a:t>• Membaca layar struk HP pembeli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2. EDGE COMPUTING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YOLOv11 Multi-class Model</a:t>
            </a:r>
            <a:br/>
            <a:r>
              <a:t>• WinOCR / PaddleOCR Realtime</a:t>
            </a:r>
            <a:br/>
            <a:r>
              <a:t>• State Machine Kasir (Python)</a:t>
            </a:r>
            <a:br/>
            <a:r>
              <a:t>• OpenCV Display + QR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3. WEBHOOK &amp; TUNNEL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HTTP Webhook Server (Port 8091)</a:t>
            </a:r>
            <a:br/>
            <a:r>
              <a:t>• Cloudflare Named Tunnel</a:t>
            </a:r>
            <a:br/>
            <a:r>
              <a:t>  (kulkas.ruwwww-thesis.my.id)</a:t>
            </a:r>
            <a:br/>
            <a:r>
              <a:t>• Verifikasi SHA-512 Signature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4. CLOUD &amp; MONITORING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Midtrans Payment Gateway Snap</a:t>
            </a:r>
            <a:br/>
            <a:r>
              <a:t>• Telegram Bot Push Alert (@tekber_bot)</a:t>
            </a:r>
            <a:br/>
            <a:r>
              <a:t>• Admin Monitoring Dashboard (Tailwind)</a:t>
            </a:r>
            <a:br/>
            <a:r>
              <a:t>• SQLite WAL Persistence (kulkas.db)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ALUR TRANSAKSI KASIR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State Machine: MINUMAN -&gt; BAYAR -&gt; HASIL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Tahap 1: MINUMAN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Pembeli meletakkan minuman di depan kasir. Model YOLO mendeteksi jenis botol, menguji kestabilan 10 frame berturut-turut, lalu mengunci total tagihan belanja.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Tahap 2: BAYAR &amp; COUNTDOWN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Layar kasir menampilkan QR Code Midtrans dinamis dan progress bar hitung mundur expirasi 60 detik. Pembeli scan bayar &amp; menghadapkan struk ke kamera.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Tahap 3: HASIL &amp; EVALUASI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Kasir memvalidasi nominal, jam struk, dan mutasi uang masuk. Jika valid -&gt; Layar Hijau. Jika curang/kurang bayar/waktu habis -&gt; Layar Merah Alarm.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INOVASI REKONSILIASI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Formula Triangulasi 3 Titik Waktu Anti-Kecurangan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34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Lapisan 1: Validasi Nominal  ➔  Nominal OCR Struk &gt;= Total Tagihan Kasir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Memastikan pembeli membayar sesuai/lebih dari harga barang. Jika kurang -&gt; REJECT UNDERPAYMENT.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10698480" cy="1234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Lapisan 2: Validasi Jam Struk vs Kamera  ➔  | T_struk - T_kamera | &lt;= 180 detik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Memastikan struk dibuat maksimal 3 menit yang lalu dari waktu hadap kamera. Mencegah Replay Attack.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98480" cy="12344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Lapisan 3: Validasi Mutasi Bank Masuk  ➔  | T_mutasi - T_struk | &lt;= 180 detik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Memastikan dana benar-benar masuk ke rekening bank/Midtrans dalam rentang 3 menit yang sama. Mencegah Struk Palsu.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LOGIKA VERIFIKASI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3 Tingkatan Status Pembayaran yang Transparan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1. LUNAS (MUTASI FIX)</a:t>
            </a:r>
          </a:p>
          <a:p>
            <a:pPr>
              <a:defRPr sz="950">
                <a:solidFill>
                  <a:srgbClr val="38BDF8"/>
                </a:solidFill>
              </a:defRPr>
            </a:pPr>
            <a:r>
              <a:t>Kode: OK_REKONSILIASI_MUTASI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Nominal struk pas/lebih DAN mutasi dana di Midtrans/Bank sudah terkonfirmasi masuk dan berhasil diklaim (claimed=True). Tidak ada celah double spend.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2. PENDING (STRUK VALID)</a:t>
            </a:r>
          </a:p>
          <a:p>
            <a:pPr>
              <a:defRPr sz="950">
                <a:solidFill>
                  <a:srgbClr val="38BDF8"/>
                </a:solidFill>
              </a:defRPr>
            </a:pPr>
            <a:r>
              <a:t>Kode: PENDING_MUTASI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Struk berhasil dibaca OCR dan jam struk valid, namun mutasi dana di rekening bank belum terkonfirmasi masuk. Kasir memberikan status pending audit.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3F5E"/>
                </a:solidFill>
              </a:defRPr>
            </a:pPr>
            <a:r>
              <a:t>3. PELANGGARAN (FRAUD)</a:t>
            </a:r>
          </a:p>
          <a:p>
            <a:pPr>
              <a:defRPr sz="950">
                <a:solidFill>
                  <a:srgbClr val="38BDF8"/>
                </a:solidFill>
              </a:defRPr>
            </a:pPr>
            <a:r>
              <a:t>Kode: PELANGGARAN: ...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Terjadi kecurangan: kurang bayar (underpayment), jam struk kadaluarsa (&gt;3 menit), mutasi rekening nihil, atau waktu bayar habis (&gt;60 detik expired).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FORENSIK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Sistem Penyimpanan 3 Foto Otentik Per Kasus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FOTO 1: SCAN MINUMAN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Format: YYYYMMDD_HHMMSS_minuman.jpg</a:t>
            </a:r>
            <a:br/>
            <a:br/>
            <a:r>
              <a:t>Tangkapan kamera saat pembeli meletakkan botol minuman di panggung kasir dan deteksi bounding box YOLO telah terkunci stabil.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FOTO 2: SCAN BUKTI TF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Format: YYYYMMDD_HHMMSS_struk.jpg</a:t>
            </a:r>
            <a:br/>
            <a:br/>
            <a:r>
              <a:t>Tangkapan kamera saat pembeli menghadapkan layar HP berisi struk pembayaran ke webcam kasir untuk dibaca oleh modul OCR.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3F5E"/>
                </a:solidFill>
              </a:defRPr>
            </a:pPr>
            <a:r>
              <a:t>FOTO 3: FOTO PELANGGARAN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Format: YYYYMMDD_HHMMSS_pelanggaran.jpg</a:t>
            </a:r>
            <a:br/>
            <a:br/>
            <a:r>
              <a:t>Tangkapan kamera saat alarm berbunyi: merekam wajah pembeli dan suasana kasir saat terjadi underpayment atau kecurangan.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HASIL &amp; PENGUJIAN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Hasil Uji Eksperimental 6 Skenario Transaksi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926080"/>
                <a:gridCol w="4114800"/>
                <a:gridCol w="3108960"/>
              </a:tblGrid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826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Skenario Pengujian</a:t>
                      </a:r>
                    </a:p>
                  </a:txBody>
                  <a:tcPr>
                    <a:solidFill>
                      <a:srgbClr val="1826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Aksi Pembeli / Penguji</a:t>
                      </a:r>
                    </a:p>
                  </a:txBody>
                  <a:tcPr>
                    <a:solidFill>
                      <a:srgbClr val="1826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Status Akhir Sistem</a:t>
                      </a:r>
                    </a:p>
                  </a:txBody>
                  <a:tcPr>
                    <a:solidFill>
                      <a:srgbClr val="182646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Happy Path (Transaksi Normal)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Beli Rp 3.000, bayar Midtrans Rp 3.000, struk pas jam valid.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34D399"/>
                          </a:solidFill>
                        </a:defRPr>
                      </a:pPr>
                      <a:r>
                        <a:t>LUNAS (MUTASI FIX)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Underpayment (Kurang Bayar)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Beli barang Rp 50.000, struk transfer hanya Rp 3.000.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43F5E"/>
                          </a:solidFill>
                        </a:defRPr>
                      </a:pPr>
                      <a:r>
                        <a:t>PELANGGARAN: KURANG BAYAR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Replay Attack (Screenshot Lama)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Tunjukkan struk kemarin (&gt;3 menit lalu) tanpa transfer baru.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43F5E"/>
                          </a:solidFill>
                        </a:defRPr>
                      </a:pPr>
                      <a:r>
                        <a:t>PELANGGARAN: KADALUARSA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Mutasi Nihil (Struk Palsu)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Tunjukkan struk editan jam sekarang tanpa transfer riil ke rekening.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43F5E"/>
                          </a:solidFill>
                        </a:defRPr>
                      </a:pPr>
                      <a:r>
                        <a:t>PELANGGARAN: MUTASI NIHIL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Double Spend (1 Struk 2x)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Menggunakan kembali struk yang sudah berhasil dipakai sebelumnya.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43F5E"/>
                          </a:solidFill>
                        </a:defRPr>
                      </a:pPr>
                      <a:r>
                        <a:t>PELANGGARAN: DOUBLE SPEND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Timeout Expired (Waktu Habis)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Ambil barang, masuk tahap bayar, lalu diam/kabur &gt; 60 detik.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43F5E"/>
                          </a:solidFill>
                        </a:defRPr>
                      </a:pPr>
                      <a:r>
                        <a:t>PELANGGARAN: TIMEOUT EXPIRED</a:t>
                      </a:r>
                    </a:p>
                  </a:txBody>
                  <a:tcPr>
                    <a:solidFill>
                      <a:srgbClr val="141D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MONITORING &amp; KONTROL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Admin Web Dashboard Real-Time &amp; Live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Live KPI Metrics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Memantau Total Sesi, Jumlah Lunas, Jumlah Pending, Persentase Fraud, dan Total Pendapatan secara langsung.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Filter Status 5 Kategori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Pemisahan filter instan: Semua, Lunas (Mutasi Fix), Pending Mutasi, Pelanggaran, dan Timeout.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818CF8"/>
                </a:solidFill>
              </a:defRPr>
            </a:pPr>
            <a:r>
              <a:t>Triple-Preview Modal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Inspeksi 3 foto berdampingan (Foto Minuman, Scan TF, Foto Pelanggaran) dalam satu popup perbandingan.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Feed Mutasi Webhook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Daftar mutasi masuk real-time dari Midtrans port 8091 beserta ID transaksi dan status klaim dana.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Keunggulan Inovasi &amp; Nilai Tambah Sistem Kasir Kulkas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Kesimpulan &amp; Pencapaian Tugas Akhir / Skripsi: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✔ Efisiensi Biaya Signifikan: Menggantikan sensor berat / RFID berbiaya jutaan rupiah hanya dengan webcam standar dan model computer vision efisien (YOLOv11 OpenVINO).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✔ Ketahanan Anti-Fraud Tinggi: Metode triangulasi 3 titik waktu (|Δt| &lt;= 180s) berhasil menangkal 4 teknik kecurangan utama (Replay Attack, Fake Struk, Underpayment, &amp; Double Spend).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✔ Klasifikasi Status Transparan: Memisahkan secara tegas antara status Lunas (Mutasi Fix), Pending (Struk Valid), dan Pelanggaran (Fraud).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✔ Sistem Audit Terintegrasi: Rekaman forensik 3 foto dan notifikasi push Telegram Bot memungkinkan pemilik memantau kulkas dari mana saja secara real-time.</a:t>
            </a:r>
          </a:p>
          <a:p>
            <a:pPr>
              <a:defRPr sz="1150">
                <a:solidFill>
                  <a:srgbClr val="F8FAFC"/>
                </a:solidFill>
              </a:defRPr>
            </a:pPr>
            <a:r>
              <a:t>✔ Siap Demo (Fresh State Architecture): Dilengkapi mekanisme reset titik 0 dan pencadangan otomatis untuk presentasi berulang.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